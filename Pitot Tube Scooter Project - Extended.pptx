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71" r:id="rId6"/>
    <p:sldId id="259" r:id="rId7"/>
    <p:sldId id="261" r:id="rId8"/>
    <p:sldId id="262" r:id="rId9"/>
    <p:sldId id="263" r:id="rId10"/>
    <p:sldId id="264" r:id="rId11"/>
    <p:sldId id="272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21A36-4968-4876-8DDF-A4C1FE7C22B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3A66F-025E-4947-8CE8-3E008A6D7C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92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3A66F-025E-4947-8CE8-3E008A6D7C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12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11" Type="http://schemas.openxmlformats.org/officeDocument/2006/relationships/image" Target="../media/image19.png"/><Relationship Id="rId5" Type="http://schemas.openxmlformats.org/officeDocument/2006/relationships/image" Target="../media/image13.jpg"/><Relationship Id="rId10" Type="http://schemas.openxmlformats.org/officeDocument/2006/relationships/image" Target="../media/image18.jpg"/><Relationship Id="rId4" Type="http://schemas.openxmlformats.org/officeDocument/2006/relationships/image" Target="../media/image12.jp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5276" y="1926877"/>
            <a:ext cx="11581447" cy="807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250" b="1" dirty="0">
                <a:solidFill>
                  <a:srgbClr val="F8FAFC"/>
                </a:solidFill>
                <a:latin typeface="Urbanist"/>
              </a:rPr>
              <a:t>Designing of a Pitot-Static Tube</a:t>
            </a:r>
            <a:endParaRPr sz="5250" b="1" i="0" u="none" dirty="0">
              <a:solidFill>
                <a:srgbClr val="F8FAFC"/>
              </a:solidFill>
              <a:latin typeface="Urbanis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1025" y="4483298"/>
            <a:ext cx="11029950" cy="1204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500" b="0" i="0" u="none" dirty="0">
                <a:solidFill>
                  <a:srgbClr val="64748B"/>
                </a:solidFill>
                <a:latin typeface="Urbanist"/>
              </a:rPr>
              <a:t>Team Members</a:t>
            </a:r>
          </a:p>
          <a:p>
            <a:pPr algn="ctr">
              <a:lnSpc>
                <a:spcPts val="2400"/>
              </a:lnSpc>
            </a:pPr>
            <a:r>
              <a:rPr lang="en-US" sz="1500" dirty="0">
                <a:solidFill>
                  <a:srgbClr val="64748B"/>
                </a:solidFill>
                <a:latin typeface="Urbanist"/>
              </a:rPr>
              <a:t>Nipun Gunarathne – Device design Engineer</a:t>
            </a:r>
          </a:p>
          <a:p>
            <a:pPr algn="ctr">
              <a:lnSpc>
                <a:spcPts val="2400"/>
              </a:lnSpc>
            </a:pPr>
            <a:r>
              <a:rPr lang="en-US" sz="1500" b="0" i="0" u="none" dirty="0">
                <a:solidFill>
                  <a:srgbClr val="64748B"/>
                </a:solidFill>
                <a:latin typeface="Urbanist"/>
              </a:rPr>
              <a:t>Wu Fan </a:t>
            </a:r>
            <a:r>
              <a:rPr lang="en-US" sz="1500" dirty="0">
                <a:solidFill>
                  <a:srgbClr val="64748B"/>
                </a:solidFill>
                <a:latin typeface="Urbanist"/>
              </a:rPr>
              <a:t>– Installation system design Engineering</a:t>
            </a:r>
            <a:endParaRPr lang="en-US" sz="1500" b="0" i="0" u="none" dirty="0">
              <a:solidFill>
                <a:srgbClr val="64748B"/>
              </a:solidFill>
              <a:latin typeface="Urbanist"/>
            </a:endParaRPr>
          </a:p>
          <a:p>
            <a:pPr algn="ctr">
              <a:lnSpc>
                <a:spcPts val="2400"/>
              </a:lnSpc>
            </a:pPr>
            <a:r>
              <a:rPr lang="en-US" sz="1500" dirty="0">
                <a:solidFill>
                  <a:srgbClr val="64748B"/>
                </a:solidFill>
                <a:latin typeface="Urbanist"/>
              </a:rPr>
              <a:t>Gaurawa Kovida – Test Engineer</a:t>
            </a:r>
            <a:endParaRPr sz="1500" b="0" i="0" u="none" dirty="0">
              <a:solidFill>
                <a:srgbClr val="64748B"/>
              </a:solidFill>
              <a:latin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647825"/>
            <a:ext cx="554069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Medium"/>
              </a:rPr>
              <a:t>What is it really?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295906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0" i="0" dirty="0">
                <a:solidFill>
                  <a:srgbClr val="D3CFCA"/>
                </a:solidFill>
                <a:effectLst/>
                <a:latin typeface="Arial" panose="020B0604020202020204" pitchFamily="34" charset="0"/>
              </a:rPr>
              <a:t>It is widely used to determine the </a:t>
            </a:r>
            <a:r>
              <a:rPr lang="en-US" sz="1600" b="0" i="0" dirty="0">
                <a:solidFill>
                  <a:srgbClr val="5C98D6"/>
                </a:solidFill>
                <a:effectLst/>
                <a:latin typeface="Arial" panose="020B0604020202020204" pitchFamily="34" charset="0"/>
              </a:rPr>
              <a:t>airspeed </a:t>
            </a:r>
            <a:r>
              <a:rPr lang="en-US" sz="1600" b="0" i="0" dirty="0">
                <a:solidFill>
                  <a:srgbClr val="D3CFCA"/>
                </a:solidFill>
                <a:effectLst/>
                <a:latin typeface="Arial" panose="020B0604020202020204" pitchFamily="34" charset="0"/>
              </a:rPr>
              <a:t>of aircraft; the water speed of boats; and the flow velocity of liquids, air, and gases in industry</a:t>
            </a:r>
            <a:endParaRPr sz="1500" b="0" i="0" u="none" dirty="0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F8FAFC"/>
                </a:solidFill>
                <a:latin typeface="Urbanist Medium"/>
              </a:rPr>
              <a:t>Introduction </a:t>
            </a:r>
            <a:endParaRPr sz="3000" b="0" i="0" u="none" dirty="0">
              <a:solidFill>
                <a:srgbClr val="F8FAFC"/>
              </a:solidFill>
              <a:latin typeface="Urbanist Medium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640F4C-0E1B-8298-C42E-95D89470DEF6}"/>
                  </a:ext>
                </a:extLst>
              </p:cNvPr>
              <p:cNvSpPr txBox="1"/>
              <p:nvPr/>
            </p:nvSpPr>
            <p:spPr>
              <a:xfrm>
                <a:off x="581025" y="3519487"/>
                <a:ext cx="5276850" cy="59112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:r>
                  <a:rPr lang="en-US" sz="1600" u="none" dirty="0">
                    <a:solidFill>
                      <a:srgbClr val="D3CFCA"/>
                    </a:solidFill>
                    <a:latin typeface="Arial" panose="020B0604020202020204" pitchFamily="34" charset="0"/>
                  </a:rPr>
                  <a:t>Measures pressure difference (</a:t>
                </a:r>
                <a14:m>
                  <m:oMath xmlns:m="http://schemas.openxmlformats.org/officeDocument/2006/math">
                    <m:r>
                      <a:rPr lang="en-US" sz="1600" i="1" u="none" smtClean="0">
                        <a:solidFill>
                          <a:srgbClr val="D3CFC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1600" b="0" i="1" u="none" smtClean="0">
                        <a:solidFill>
                          <a:srgbClr val="D3CFC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u="none" dirty="0">
                    <a:solidFill>
                      <a:srgbClr val="D3CFCA"/>
                    </a:solidFill>
                    <a:latin typeface="Arial" panose="020B0604020202020204" pitchFamily="34" charset="0"/>
                  </a:rPr>
                  <a:t>) of stagnation</a:t>
                </a:r>
                <a:r>
                  <a:rPr lang="en-US" sz="1600" dirty="0">
                    <a:solidFill>
                      <a:srgbClr val="D3CFCA"/>
                    </a:solidFill>
                    <a:latin typeface="Arial" panose="020B0604020202020204" pitchFamily="34" charset="0"/>
                  </a:rPr>
                  <a:t> pressure and static pressure and translates it into fluid flow velocity. </a:t>
                </a:r>
                <a:endParaRPr sz="1500" b="0" i="0" u="none" dirty="0">
                  <a:solidFill>
                    <a:srgbClr val="CBD5E1"/>
                  </a:solidFill>
                  <a:latin typeface="Urbanis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640F4C-0E1B-8298-C42E-95D89470D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025" y="3519487"/>
                <a:ext cx="5276850" cy="591124"/>
              </a:xfrm>
              <a:prstGeom prst="rect">
                <a:avLst/>
              </a:prstGeom>
              <a:blipFill>
                <a:blip r:embed="rId3"/>
                <a:stretch>
                  <a:fillRect l="-2309" t="-4124" r="-2309" b="-20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C65BA8F-BF21-D325-F574-75AE2F39C711}"/>
              </a:ext>
            </a:extLst>
          </p:cNvPr>
          <p:cNvSpPr txBox="1"/>
          <p:nvPr/>
        </p:nvSpPr>
        <p:spPr>
          <a:xfrm>
            <a:off x="581025" y="4397503"/>
            <a:ext cx="5276850" cy="1820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u="none" dirty="0">
                <a:solidFill>
                  <a:srgbClr val="D3CFCA"/>
                </a:solidFill>
                <a:latin typeface="Arial" panose="020B0604020202020204" pitchFamily="34" charset="0"/>
              </a:rPr>
              <a:t>Since Bernoulli’s principles are considered here, fluid flow is treated as;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D3CFCA"/>
                </a:solidFill>
                <a:latin typeface="Arial" panose="020B0604020202020204" pitchFamily="34" charset="0"/>
              </a:rPr>
              <a:t>Non-viscous</a:t>
            </a:r>
            <a:endParaRPr lang="en-US" sz="1600" dirty="0">
              <a:solidFill>
                <a:srgbClr val="D3CFCA"/>
              </a:solidFill>
              <a:latin typeface="Arial" panose="020B0604020202020204" pitchFamily="34" charset="0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0" i="0" u="none" dirty="0">
                <a:solidFill>
                  <a:srgbClr val="D3CFCA"/>
                </a:solidFill>
                <a:latin typeface="Arial" panose="020B0604020202020204" pitchFamily="34" charset="0"/>
              </a:rPr>
              <a:t>Streamlined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D3CFCA"/>
                </a:solidFill>
                <a:latin typeface="Arial" panose="020B0604020202020204" pitchFamily="34" charset="0"/>
              </a:rPr>
              <a:t>Incompressible</a:t>
            </a: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sz="1600" b="0" i="0" u="none" dirty="0">
                <a:solidFill>
                  <a:srgbClr val="D3CFCA"/>
                </a:solidFill>
                <a:latin typeface="Arial" panose="020B0604020202020204" pitchFamily="34" charset="0"/>
              </a:rPr>
              <a:t>No</a:t>
            </a:r>
            <a:r>
              <a:rPr lang="en-US" sz="1600" dirty="0">
                <a:solidFill>
                  <a:srgbClr val="D3CFCA"/>
                </a:solidFill>
                <a:latin typeface="Arial" panose="020B0604020202020204" pitchFamily="34" charset="0"/>
              </a:rPr>
              <a:t> energy addition or loss</a:t>
            </a:r>
            <a:endParaRPr sz="1500" b="0" i="0" u="none" dirty="0">
              <a:solidFill>
                <a:srgbClr val="CBD5E1"/>
              </a:solidFill>
              <a:latin typeface="Urbanist"/>
            </a:endParaRPr>
          </a:p>
        </p:txBody>
      </p:sp>
      <p:pic>
        <p:nvPicPr>
          <p:cNvPr id="15" name="Picture 14" descr="Why spell it pitot when the last t is silent? #memeflightrules #bober💣💣💣">
            <a:extLst>
              <a:ext uri="{FF2B5EF4-FFF2-40B4-BE49-F238E27FC236}">
                <a16:creationId xmlns:a16="http://schemas.microsoft.com/office/drawing/2014/main" id="{A6190458-836D-D291-E6F2-8017E27EE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501" y="1910417"/>
            <a:ext cx="4257675" cy="4257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E9152D-F41A-6ECD-33C6-9B7726081EA8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0087" y="1625335"/>
            <a:ext cx="5276850" cy="1512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The core physics of our setup relies on isolating dynamic pressure to calculate true airspeed. </a:t>
            </a:r>
            <a:endParaRPr lang="en-US" sz="1500" b="0" i="0" u="none" dirty="0">
              <a:solidFill>
                <a:srgbClr val="CBD5E1"/>
              </a:solidFill>
              <a:latin typeface="Urbanist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A Pitot-static tube</a:t>
            </a:r>
            <a:r>
              <a:rPr lang="en-US" sz="1500" b="0" i="0" u="none" dirty="0">
                <a:solidFill>
                  <a:srgbClr val="CBD5E1"/>
                </a:solidFill>
                <a:latin typeface="Urbanist"/>
              </a:rPr>
              <a:t> and the manometer connected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simultaneously measures the stagnation pressure and the local static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5937" y="4710228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24037" y="4710228"/>
                <a:ext cx="5038725" cy="281616"/>
              </a:xfrm>
              <a:prstGeom prst="rect">
                <a:avLst/>
              </a:prstGeom>
              <a:noFill/>
            </p:spPr>
            <p:txBody>
              <a:bodyPr wrap="square" lIns="38100" tIns="0" rIns="0" bIns="0" anchor="t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14:m>
                  <m:oMath xmlns:m="http://schemas.openxmlformats.org/officeDocument/2006/math">
                    <m:r>
                      <a:rPr lang="en-US" sz="1500" b="0" i="1" u="none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500" b="0" i="0" u="none" dirty="0">
                    <a:solidFill>
                      <a:srgbClr val="CBD5E1"/>
                    </a:solidFill>
                    <a:latin typeface="Urbanist"/>
                  </a:rPr>
                  <a:t>: True Airspeed (m/s)</a:t>
                </a:r>
                <a:endParaRPr sz="1500" b="0" i="0" u="none" dirty="0">
                  <a:solidFill>
                    <a:srgbClr val="CBD5E1"/>
                  </a:solidFill>
                  <a:latin typeface="Urbanis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037" y="4710228"/>
                <a:ext cx="5038725" cy="281616"/>
              </a:xfrm>
              <a:prstGeom prst="rect">
                <a:avLst/>
              </a:prstGeom>
              <a:blipFill>
                <a:blip r:embed="rId3"/>
                <a:stretch>
                  <a:fillRect l="-242" t="-2174" b="-4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785937" y="5015028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824037" y="5015028"/>
                <a:ext cx="5038725" cy="281616"/>
              </a:xfrm>
              <a:prstGeom prst="rect">
                <a:avLst/>
              </a:prstGeom>
              <a:noFill/>
            </p:spPr>
            <p:txBody>
              <a:bodyPr wrap="square" lIns="38100" tIns="0" rIns="0" bIns="0" anchor="t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14:m>
                  <m:oMath xmlns:m="http://schemas.openxmlformats.org/officeDocument/2006/math">
                    <m:r>
                      <a:rPr lang="en-US" sz="1500" b="0" i="1" u="none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500" b="0" i="0" u="none" dirty="0">
                    <a:solidFill>
                      <a:srgbClr val="CBD5E1"/>
                    </a:solidFill>
                    <a:latin typeface="Urbanist"/>
                  </a:rPr>
                  <a:t>: Stagnation Pressure (Inner tube)</a:t>
                </a:r>
                <a:endParaRPr sz="1500" b="0" i="0" u="none" dirty="0">
                  <a:solidFill>
                    <a:srgbClr val="CBD5E1"/>
                  </a:solidFill>
                  <a:latin typeface="Urbanist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037" y="5015028"/>
                <a:ext cx="5038725" cy="281616"/>
              </a:xfrm>
              <a:prstGeom prst="rect">
                <a:avLst/>
              </a:prstGeom>
              <a:blipFill>
                <a:blip r:embed="rId4"/>
                <a:stretch>
                  <a:fillRect l="-605" t="-2174" b="-4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785937" y="5319828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824037" y="5319828"/>
                <a:ext cx="5038725" cy="281616"/>
              </a:xfrm>
              <a:prstGeom prst="rect">
                <a:avLst/>
              </a:prstGeom>
              <a:noFill/>
            </p:spPr>
            <p:txBody>
              <a:bodyPr wrap="square" lIns="38100" tIns="0" rIns="0" bIns="0" anchor="t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u="none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00" b="0" i="1" u="none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500" b="0" i="1" u="none" smtClean="0">
                            <a:solidFill>
                              <a:srgbClr val="CBD5E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500" b="0" i="0" u="none" dirty="0">
                    <a:solidFill>
                      <a:srgbClr val="CBD5E1"/>
                    </a:solidFill>
                    <a:latin typeface="Urbanist"/>
                  </a:rPr>
                  <a:t>: Static Pressure (Outer PVC chamber)</a:t>
                </a:r>
                <a:endParaRPr sz="1500" b="0" i="0" u="none" dirty="0">
                  <a:solidFill>
                    <a:srgbClr val="CBD5E1"/>
                  </a:solidFill>
                  <a:latin typeface="Urbanist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037" y="5319828"/>
                <a:ext cx="5038725" cy="281616"/>
              </a:xfrm>
              <a:prstGeom prst="rect">
                <a:avLst/>
              </a:prstGeom>
              <a:blipFill>
                <a:blip r:embed="rId5"/>
                <a:stretch>
                  <a:fillRect l="-605" t="-2174" b="-4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785937" y="5624628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824037" y="5624628"/>
                <a:ext cx="5038725" cy="281039"/>
              </a:xfrm>
              <a:prstGeom prst="rect">
                <a:avLst/>
              </a:prstGeom>
              <a:noFill/>
            </p:spPr>
            <p:txBody>
              <a:bodyPr wrap="square" lIns="38100" tIns="0" rIns="0" bIns="0" anchor="t">
                <a:spAutoFit/>
              </a:bodyPr>
              <a:lstStyle/>
              <a:p>
                <a:pPr algn="l">
                  <a:lnSpc>
                    <a:spcPts val="2400"/>
                  </a:lnSpc>
                </a:pPr>
                <a14:m>
                  <m:oMath xmlns:m="http://schemas.openxmlformats.org/officeDocument/2006/math">
                    <m:r>
                      <a:rPr lang="en-US" sz="1500" b="1" i="1" u="none" dirty="0" smtClean="0">
                        <a:solidFill>
                          <a:srgbClr val="CBD5E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sz="1500" b="0" i="0" u="none" dirty="0">
                    <a:solidFill>
                      <a:srgbClr val="CBD5E1"/>
                    </a:solidFill>
                    <a:latin typeface="Urbanist"/>
                  </a:rPr>
                  <a:t>: Air Density (~1.225 kg/m³)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037" y="5624628"/>
                <a:ext cx="5038725" cy="281039"/>
              </a:xfrm>
              <a:prstGeom prst="rect">
                <a:avLst/>
              </a:prstGeom>
              <a:blipFill>
                <a:blip r:embed="rId6"/>
                <a:stretch>
                  <a:fillRect l="-605" t="-2174" b="-4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Urbanist Medium"/>
              </a:rPr>
              <a:t>Aerodynamic Theory: </a:t>
            </a:r>
            <a:r>
              <a:rPr sz="3000" b="0" i="0" u="none">
                <a:solidFill>
                  <a:srgbClr val="38BDF8"/>
                </a:solidFill>
                <a:latin typeface="Urbanist Medium"/>
              </a:rPr>
              <a:t>Bernoulli's Principle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E4BC00-E0C4-5EEA-10F1-E99E15697055}"/>
                  </a:ext>
                </a:extLst>
              </p:cNvPr>
              <p:cNvSpPr txBox="1"/>
              <p:nvPr/>
            </p:nvSpPr>
            <p:spPr>
              <a:xfrm>
                <a:off x="2130552" y="3563242"/>
                <a:ext cx="2212848" cy="843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v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2(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b="1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𝝆</m:t>
                            </m:r>
                          </m:den>
                        </m:f>
                      </m:e>
                    </m:rad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E4BC00-E0C4-5EEA-10F1-E99E15697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552" y="3563242"/>
                <a:ext cx="2212848" cy="843885"/>
              </a:xfrm>
              <a:prstGeom prst="rect">
                <a:avLst/>
              </a:prstGeom>
              <a:blipFill>
                <a:blip r:embed="rId7"/>
                <a:stretch>
                  <a:fillRect l="-4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F0EAECB6-9A10-ED19-6552-03F5921ED4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1748" y="2926080"/>
            <a:ext cx="5276850" cy="2618214"/>
          </a:xfrm>
          <a:prstGeom prst="rect">
            <a:avLst/>
          </a:prstGeom>
        </p:spPr>
      </p:pic>
      <p:pic>
        <p:nvPicPr>
          <p:cNvPr id="19" name="Picture 18" descr="Pitot Static Tube Pressure Calculations with DAQmx Acquisition - NI  Community">
            <a:extLst>
              <a:ext uri="{FF2B5EF4-FFF2-40B4-BE49-F238E27FC236}">
                <a16:creationId xmlns:a16="http://schemas.microsoft.com/office/drawing/2014/main" id="{370FBE53-E06D-4175-64A0-95D276DE59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777" y="3138057"/>
            <a:ext cx="4820888" cy="170227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4B1A624-84C3-7FD2-CF9C-30D5B9255733}"/>
              </a:ext>
            </a:extLst>
          </p:cNvPr>
          <p:cNvSpPr txBox="1"/>
          <p:nvPr/>
        </p:nvSpPr>
        <p:spPr>
          <a:xfrm>
            <a:off x="6647495" y="5015028"/>
            <a:ext cx="4789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https://forums.ni.com/t5/Example-Code/Pitot-Static-Tube-Pressure-Calculations-with-DAQmx-Acquisition/ta-p/3530828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D8042-9E17-EF86-D2A1-007A158F4773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581150"/>
            <a:ext cx="55406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38BDF8"/>
                </a:solidFill>
                <a:latin typeface="Urbanist Medium"/>
              </a:rPr>
              <a:t>Initial Sketch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085975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Prior to fabrication, the assembly was mapped out to ensure the geometry minimized turbulent wake over the measurement 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4150" y="3143250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0" y="3143250"/>
            <a:ext cx="5038725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CBD5E1"/>
                </a:solidFill>
                <a:latin typeface="Urbanist"/>
              </a:rPr>
              <a:t>Forward Boom: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1</a:t>
            </a:r>
            <a:r>
              <a:rPr lang="en-US" sz="1500" b="0" i="0" u="none" dirty="0">
                <a:solidFill>
                  <a:srgbClr val="CBD5E1"/>
                </a:solidFill>
                <a:latin typeface="Urbanist"/>
              </a:rPr>
              <a:t>7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0mm length required to project past the scooter's frontal bow wave.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752850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752850"/>
            <a:ext cx="5038725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CBD5E1"/>
                </a:solidFill>
                <a:latin typeface="Urbanist"/>
              </a:rPr>
              <a:t>Outer Casing: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11mm PVC acts as the static pressure averaging chamber.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4362450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4362450"/>
            <a:ext cx="5038725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CBD5E1"/>
                </a:solidFill>
                <a:latin typeface="Urbanist"/>
              </a:rPr>
              <a:t>Inner Tube: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</a:t>
            </a:r>
            <a:r>
              <a:rPr lang="en-US" sz="1500" b="0" i="0" u="none" dirty="0">
                <a:solidFill>
                  <a:srgbClr val="CBD5E1"/>
                </a:solidFill>
                <a:latin typeface="Urbanist"/>
              </a:rPr>
              <a:t>4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mm rubber line routed directly from the tip to the sensor.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4972050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4972050"/>
            <a:ext cx="5038725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CBD5E1"/>
                </a:solidFill>
                <a:latin typeface="Urbanist"/>
              </a:rPr>
              <a:t>Mounting Angle: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Designed with a 10</a:t>
            </a:r>
            <a:r>
              <a:rPr lang="en-US" sz="1500" b="0" i="0" u="none" dirty="0">
                <a:solidFill>
                  <a:srgbClr val="CBD5E1"/>
                </a:solidFill>
                <a:latin typeface="Urbanist"/>
              </a:rPr>
              <a:t>8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° elbow to perfectly offset the scooter's steering stem rake.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Urbanist Medium"/>
              </a:rPr>
              <a:t>Conceptual Design &amp; Specifications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15AF75-2535-A63F-F27C-D405250AEC6F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32D9DD5-EDEC-0249-87A3-0878CA27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0" t="16887" r="13057"/>
          <a:stretch>
            <a:fillRect/>
          </a:stretch>
        </p:blipFill>
        <p:spPr>
          <a:xfrm>
            <a:off x="454589" y="1638300"/>
            <a:ext cx="5667128" cy="40674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EA50-EEAD-D738-9BA3-260AF7E9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364D0A6-B5F4-5BCC-5DEB-0EE61922B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504D3D-A488-BE6A-BEEB-C329B8B71E70}"/>
              </a:ext>
            </a:extLst>
          </p:cNvPr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0" i="0" u="none" dirty="0">
                <a:solidFill>
                  <a:srgbClr val="F8FAFC"/>
                </a:solidFill>
                <a:latin typeface="Urbanist Medium"/>
              </a:rPr>
              <a:t>Final Design &amp; Specifications</a:t>
            </a:r>
            <a:endParaRPr sz="3000" b="0" i="0" u="none" dirty="0">
              <a:solidFill>
                <a:srgbClr val="F8FAFC"/>
              </a:solidFill>
              <a:latin typeface="Urbanist Medium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6BBCFD-09AE-0EF6-59E0-432D85951535}"/>
              </a:ext>
            </a:extLst>
          </p:cNvPr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819B02-A66C-D753-80CC-46F3B3EC3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96" y="1289173"/>
            <a:ext cx="7553112" cy="5336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9C402C-49D2-BFF8-A489-F32FE27BF499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545DED-289E-FA6D-F27D-24212BA5EA6C}"/>
              </a:ext>
            </a:extLst>
          </p:cNvPr>
          <p:cNvSpPr txBox="1"/>
          <p:nvPr/>
        </p:nvSpPr>
        <p:spPr>
          <a:xfrm>
            <a:off x="8780206" y="3018503"/>
            <a:ext cx="2363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</a:rPr>
              <a:t>Technical drawing done using </a:t>
            </a:r>
          </a:p>
          <a:p>
            <a:r>
              <a:rPr lang="en-US" sz="1400" i="1" dirty="0">
                <a:solidFill>
                  <a:schemeClr val="bg1"/>
                </a:solidFill>
              </a:rPr>
              <a:t>Autodesk Inventor</a:t>
            </a:r>
          </a:p>
        </p:txBody>
      </p:sp>
    </p:spTree>
    <p:extLst>
      <p:ext uri="{BB962C8B-B14F-4D97-AF65-F5344CB8AC3E}">
        <p14:creationId xmlns:p14="http://schemas.microsoft.com/office/powerpoint/2010/main" val="475226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Urbanist Medium"/>
              </a:rPr>
              <a:t>Equipment &amp; Materials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A440AC7-008D-1D50-0F11-BFDBF916E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14475"/>
            <a:ext cx="1377643" cy="182984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195627D-3AE9-3712-9DC0-8D912694C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2859" y="1514475"/>
            <a:ext cx="1377757" cy="182984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D15186C-F3FD-20B2-52AB-D26D55048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353" y="1556944"/>
            <a:ext cx="1378012" cy="18298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8611DD-FBE5-9375-6FD9-2BF7D8F5F8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5794" y="1484144"/>
            <a:ext cx="1378013" cy="1830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A56ECB-A4D2-CA11-498B-990CD8B60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270181"/>
            <a:ext cx="1372385" cy="1829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B14D47-D3DE-3452-9347-056BE45AD3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7980" y="4312649"/>
            <a:ext cx="1372385" cy="18298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E1F80A-EB6B-4256-7DC7-F6D722AFD8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3744" y="4270179"/>
            <a:ext cx="1372385" cy="18298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823361-1134-43F7-DEF9-43FD5F9971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6064" y="4240275"/>
            <a:ext cx="1382648" cy="18362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C20A794-7839-8142-B3B0-71624D362DA5}"/>
              </a:ext>
            </a:extLst>
          </p:cNvPr>
          <p:cNvSpPr txBox="1"/>
          <p:nvPr/>
        </p:nvSpPr>
        <p:spPr>
          <a:xfrm>
            <a:off x="491331" y="3406006"/>
            <a:ext cx="15517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PCE-HVAC 2</a:t>
            </a:r>
          </a:p>
          <a:p>
            <a:r>
              <a:rPr lang="en-US" sz="1400" dirty="0">
                <a:solidFill>
                  <a:schemeClr val="bg1"/>
                </a:solidFill>
              </a:rPr>
              <a:t>Digital manometer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2BEB6D-6342-6755-18BB-F6AD737C1456}"/>
              </a:ext>
            </a:extLst>
          </p:cNvPr>
          <p:cNvSpPr txBox="1"/>
          <p:nvPr/>
        </p:nvSpPr>
        <p:spPr>
          <a:xfrm>
            <a:off x="2462344" y="3476886"/>
            <a:ext cx="169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Electric conduit tube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D0E9A9-71E7-7002-AB0C-0CDD2456D70F}"/>
              </a:ext>
            </a:extLst>
          </p:cNvPr>
          <p:cNvSpPr txBox="1"/>
          <p:nvPr/>
        </p:nvSpPr>
        <p:spPr>
          <a:xfrm>
            <a:off x="6231312" y="3397398"/>
            <a:ext cx="1587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Repurposed sauce bottle cap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C84402-79A9-B3BF-6F45-92E76CD81633}"/>
              </a:ext>
            </a:extLst>
          </p:cNvPr>
          <p:cNvSpPr txBox="1"/>
          <p:nvPr/>
        </p:nvSpPr>
        <p:spPr>
          <a:xfrm>
            <a:off x="491330" y="6166210"/>
            <a:ext cx="958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Super glue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902F4D-F790-D0B7-54FB-2AE5318D399E}"/>
              </a:ext>
            </a:extLst>
          </p:cNvPr>
          <p:cNvSpPr txBox="1"/>
          <p:nvPr/>
        </p:nvSpPr>
        <p:spPr>
          <a:xfrm>
            <a:off x="2447690" y="6193429"/>
            <a:ext cx="618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Epoxy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0BB49C-3DF0-3ED2-19CA-291247D29A26}"/>
              </a:ext>
            </a:extLst>
          </p:cNvPr>
          <p:cNvSpPr txBox="1"/>
          <p:nvPr/>
        </p:nvSpPr>
        <p:spPr>
          <a:xfrm>
            <a:off x="4404050" y="6123086"/>
            <a:ext cx="1795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Glue gun and hot glue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C3C9E6-5A3C-A756-E721-570EC984E438}"/>
              </a:ext>
            </a:extLst>
          </p:cNvPr>
          <p:cNvSpPr txBox="1"/>
          <p:nvPr/>
        </p:nvSpPr>
        <p:spPr>
          <a:xfrm>
            <a:off x="6335794" y="6102943"/>
            <a:ext cx="1277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Insulation tape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D696B0-5B5D-AD56-0695-E7AE20E22C86}"/>
              </a:ext>
            </a:extLst>
          </p:cNvPr>
          <p:cNvSpPr txBox="1"/>
          <p:nvPr/>
        </p:nvSpPr>
        <p:spPr>
          <a:xfrm>
            <a:off x="4404050" y="3432928"/>
            <a:ext cx="1587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Silicon-rubber tube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ECFDDE-C944-9225-164A-F83DBAFB7156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6BABB5-582B-0705-8614-44FAAE45D3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7491" y="2135349"/>
            <a:ext cx="3743325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81150"/>
            <a:ext cx="5276850" cy="3238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581150"/>
            <a:ext cx="5276850" cy="3238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962150"/>
            <a:ext cx="474059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Medium"/>
              </a:rPr>
              <a:t>1. Modifying the 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466975"/>
            <a:ext cx="4514850" cy="2128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The transparent sauce bottle cap featured sharp longitudinal edges. </a:t>
            </a:r>
            <a:endParaRPr lang="en-US" sz="1500" b="0" i="0" u="none" dirty="0">
              <a:solidFill>
                <a:srgbClr val="CBD5E1"/>
              </a:solidFill>
              <a:latin typeface="Urbanist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These were sanded completely smooth to prevent tripping the boundary layer. </a:t>
            </a:r>
            <a:endParaRPr lang="en-US" sz="1500" b="0" i="0" u="none" dirty="0">
              <a:solidFill>
                <a:srgbClr val="CBD5E1"/>
              </a:solidFill>
              <a:latin typeface="Urbanist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The cap was bonded flush to the 11mm PVC pipe using super glue, ensuring the 3mm stagnation tube protruded perfectly straight through the center.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5125" y="1962150"/>
            <a:ext cx="47405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38BDF8"/>
                </a:solidFill>
                <a:latin typeface="Urbanist Medium"/>
              </a:rPr>
              <a:t>2. The 10</a:t>
            </a:r>
            <a:r>
              <a:rPr lang="en-US" sz="2400" b="0" i="0" u="none" dirty="0">
                <a:solidFill>
                  <a:srgbClr val="38BDF8"/>
                </a:solidFill>
                <a:latin typeface="Urbanist Medium"/>
              </a:rPr>
              <a:t>8</a:t>
            </a:r>
            <a:r>
              <a:rPr sz="2400" b="0" i="0" u="none" dirty="0">
                <a:solidFill>
                  <a:srgbClr val="38BDF8"/>
                </a:solidFill>
                <a:latin typeface="Urbanist Medium"/>
              </a:rPr>
              <a:t>° Custom Elbow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2466975"/>
            <a:ext cx="4514850" cy="2128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Standard 90-degree PVC fittings would point the Pitot tube downward due to the scooter's raked stem. </a:t>
            </a:r>
            <a:endParaRPr lang="en-US" sz="1500" b="0" i="0" u="none" dirty="0">
              <a:solidFill>
                <a:srgbClr val="CBD5E1"/>
              </a:solidFill>
              <a:latin typeface="Urbanist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We cut the pipes and bonded them using structural epoxy at exactly 100 degrees. </a:t>
            </a:r>
            <a:endParaRPr lang="en-US" sz="1500" b="0" i="0" u="none" dirty="0">
              <a:solidFill>
                <a:srgbClr val="CBD5E1"/>
              </a:solidFill>
              <a:latin typeface="Urbanist"/>
            </a:endParaRPr>
          </a:p>
          <a:p>
            <a:pPr marL="285750" indent="-285750"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This ensures the forward boom remains perfectly horizontal and parallel to the incoming airflow during operation.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Urbanist Medium"/>
              </a:rPr>
              <a:t>Fabrication: Nose Cone &amp; Joints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5B73CE-9677-7238-5E8F-E27BD815D803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Urbanist Medium"/>
              </a:rPr>
              <a:t>Assembly &amp; Sealing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1181100"/>
            <a:ext cx="52768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2314575"/>
            <a:ext cx="554069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Medium"/>
              </a:rPr>
              <a:t>Creating the Static Chamber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819400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For the system to work, the outer 11mm PVC pipe must act as a completely airtight pressure vessel. Any leaks would immediately equalize the pressure, destroying our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876675"/>
            <a:ext cx="52768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Two-part epoxy was pumped into the bottom exit gap, sealing the space around the 3mm inner tube. Once cured, all bonded joints were heavily wrapped in wiring tape to provide a secondary air seal and critical structural reinforcement against road vibrations.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AEED0E-5CD6-629C-13E5-AE11B0736F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455" t="14972" r="14465" b="58428"/>
          <a:stretch>
            <a:fillRect/>
          </a:stretch>
        </p:blipFill>
        <p:spPr>
          <a:xfrm>
            <a:off x="6568547" y="581025"/>
            <a:ext cx="2909147" cy="29854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5F7B2E-2DE8-1B6D-9DE3-537393E2D656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D7FFA8-3475-48AE-4D46-3197A746E5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651" t="41889" b="37267"/>
          <a:stretch>
            <a:fillRect/>
          </a:stretch>
        </p:blipFill>
        <p:spPr>
          <a:xfrm>
            <a:off x="9753434" y="2551895"/>
            <a:ext cx="2042326" cy="23395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A13317-FC95-76B6-012E-98C0D64A3D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60" t="67265" r="36861" b="12163"/>
          <a:stretch>
            <a:fillRect/>
          </a:stretch>
        </p:blipFill>
        <p:spPr>
          <a:xfrm>
            <a:off x="6934733" y="4267014"/>
            <a:ext cx="2176775" cy="23090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D75B869-71D7-7364-3B58-FE1F8195E283}"/>
              </a:ext>
            </a:extLst>
          </p:cNvPr>
          <p:cNvSpPr txBox="1"/>
          <p:nvPr/>
        </p:nvSpPr>
        <p:spPr>
          <a:xfrm>
            <a:off x="9489437" y="5496232"/>
            <a:ext cx="2570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</a:rPr>
              <a:t>Attachments reinforced through</a:t>
            </a:r>
          </a:p>
          <a:p>
            <a:r>
              <a:rPr lang="en-US" sz="1400" i="1" dirty="0">
                <a:solidFill>
                  <a:schemeClr val="bg1"/>
                </a:solidFill>
              </a:rPr>
              <a:t>Electrical insulation tapes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581150"/>
            <a:ext cx="554069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Medium"/>
              </a:rPr>
              <a:t>Zip-Tie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085975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For the initial proof-of-concept road tests, the Pitot-static assembly was mounted directly to the electric scooter's angled steering 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143250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143250"/>
            <a:ext cx="5038725" cy="281616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zip-ties were used to secure the vertical PVC 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050" y="3752850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752850"/>
            <a:ext cx="5038725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This allowed for immediate field testing, easy height adjustment, and angle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4362450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4362450"/>
            <a:ext cx="5038725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The digital manometer was secured near the handlebars for real-time memory logging.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4972050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Urbanist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972050"/>
            <a:ext cx="5038725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Urbanist"/>
              </a:rPr>
              <a:t>The Trade-off: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 This non-rigid mounting solution introduced structural flex under high aerodynamic loads.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chemeClr val="bg1"/>
                </a:solidFill>
                <a:latin typeface="Urbanist Medium"/>
              </a:rPr>
              <a:t>The Mount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E62CB4-12B5-D608-CFB5-00B51007BD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71" t="66431" r="26946"/>
          <a:stretch>
            <a:fillRect/>
          </a:stretch>
        </p:blipFill>
        <p:spPr>
          <a:xfrm>
            <a:off x="8493267" y="300615"/>
            <a:ext cx="3282793" cy="26367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6D197AC-56A8-3397-7028-F5196FA782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66" r="13844" b="4566"/>
          <a:stretch>
            <a:fillRect/>
          </a:stretch>
        </p:blipFill>
        <p:spPr>
          <a:xfrm>
            <a:off x="7098142" y="3274265"/>
            <a:ext cx="2658027" cy="339556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D7C0C90-67AA-C355-2E1F-FD90360D4852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7" y="2580048"/>
            <a:ext cx="8663917" cy="30252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581150"/>
            <a:ext cx="11029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Testing was conducted on a flat, straight road. Speed was incrementally increased and held steady while logging values from the GPS Watch (Ground Speed) and the Manometer (Airspeed).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578173"/>
              </p:ext>
            </p:extLst>
          </p:nvPr>
        </p:nvGraphicFramePr>
        <p:xfrm>
          <a:off x="295652" y="2780073"/>
          <a:ext cx="8349676" cy="2421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2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62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60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5463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Test Phase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06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07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463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Scooter Dash (Target)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35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463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GPS Watch (km/h)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11.89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16.00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21.10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25.79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32.29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35.59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46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Urbanist"/>
                        </a:rPr>
                        <a:t>Manometer (km/h)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7.00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13.90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18.80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23.00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28.20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 u="none" dirty="0">
                          <a:solidFill>
                            <a:srgbClr val="CBD5E1"/>
                          </a:solidFill>
                          <a:latin typeface="Urbanist"/>
                        </a:rPr>
                        <a:t>31.40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8FAFC"/>
                </a:solidFill>
                <a:latin typeface="Urbanist Medium"/>
              </a:rPr>
              <a:t>Data Collection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06896A-F3D9-C092-8227-067259EFE86B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09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2C7B6E1-B171-77AB-26D7-1FDA38D797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199" b="4407"/>
          <a:stretch>
            <a:fillRect/>
          </a:stretch>
        </p:blipFill>
        <p:spPr>
          <a:xfrm>
            <a:off x="8937753" y="2014130"/>
            <a:ext cx="3076038" cy="41571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A2315-8D44-A537-3A4B-29413D5F70EA}"/>
              </a:ext>
            </a:extLst>
          </p:cNvPr>
          <p:cNvSpPr txBox="1"/>
          <p:nvPr/>
        </p:nvSpPr>
        <p:spPr>
          <a:xfrm>
            <a:off x="9045677" y="6312310"/>
            <a:ext cx="2332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</a:rPr>
              <a:t>Track used for measurements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353050"/>
            <a:ext cx="6172200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581150"/>
            <a:ext cx="11029950" cy="46958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53530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628900" y="53530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57775" y="53530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Urbanist Medium"/>
              </a:rPr>
              <a:t>Ground Speed vs. Measured Airspeed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2895FB-4E77-9F82-E7E2-50E535E8B5B8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81150"/>
            <a:ext cx="3422600" cy="432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25" y="1581150"/>
            <a:ext cx="3422600" cy="4324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225" y="1581150"/>
            <a:ext cx="3422600" cy="4324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524125"/>
            <a:ext cx="255031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Medium"/>
              </a:rPr>
              <a:t>The "Bump"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028950"/>
            <a:ext cx="28320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A slight lip where the sauce cap met the PVC created a minor speed bump for the air. This tripped the boundary layer, causing localized turbulence over the static holes and artificially lowering static pressure readings.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9900" y="2524125"/>
            <a:ext cx="234029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Medium"/>
              </a:rPr>
              <a:t>Misaligned Taps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9900" y="3028950"/>
            <a:ext cx="2832050" cy="2438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Hand-drilling the 1mm static ports resulted in slight asymmetrical spacing. During steering wobbles or minor crosswinds, the static chamber could not perfectly average the pressure gradient around the circumference.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3500" y="2524125"/>
            <a:ext cx="236029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Medium"/>
              </a:rPr>
              <a:t>High-Speed Flex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3500" y="3028950"/>
            <a:ext cx="2832050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At speeds exceeding 25 km/h, aerodynamic drag caused the zip-tie mount to flex backward. Tilting the nose cone off the direct stagnation axis immediately </a:t>
            </a:r>
            <a:r>
              <a:rPr lang="en-US" sz="1500" b="0" i="0" u="none" dirty="0">
                <a:solidFill>
                  <a:srgbClr val="CBD5E1"/>
                </a:solidFill>
                <a:latin typeface="Urbanist"/>
              </a:rPr>
              <a:t>skewed</a:t>
            </a:r>
            <a:r>
              <a:rPr sz="1500" b="0" i="0" u="none" dirty="0">
                <a:solidFill>
                  <a:srgbClr val="CBD5E1"/>
                </a:solidFill>
                <a:latin typeface="Urbanist"/>
              </a:rPr>
              <a:t> the high-speed data.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1905000"/>
            <a:ext cx="42862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900" y="190500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500" y="1905000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Urbanist Medium"/>
              </a:rPr>
              <a:t>Analysis: Identifying Deviations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2CFAC5-02F7-487F-73F0-B86222446E03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581150"/>
            <a:ext cx="554069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Medium"/>
              </a:rPr>
              <a:t>Theoretical CAD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5819775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The digital model represents perfect geometric symmetry, flush aerodynamic surfaces, and rigid 90-degree transitions without airflow disruption.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1581150"/>
            <a:ext cx="554069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38BDF8"/>
                </a:solidFill>
                <a:latin typeface="Urbanist Medium"/>
              </a:rPr>
              <a:t>Physical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5757862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Urbanist"/>
              </a:rPr>
              <a:t>The physical prototype highlights the realities of dorm-room fabrication: epoxy overflow, tape wrapping for vibration damping, and a repurposed nose cone.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Urbanist Medium"/>
              </a:rPr>
              <a:t>Model vs. Final Build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1811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3D6C09-21CF-26CA-5AA9-A195E673EA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55" b="19271"/>
          <a:stretch>
            <a:fillRect/>
          </a:stretch>
        </p:blipFill>
        <p:spPr>
          <a:xfrm>
            <a:off x="7446913" y="2050255"/>
            <a:ext cx="3051274" cy="36004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9520D3-73FF-4A06-5B9E-59EF83B12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518" y="2088354"/>
            <a:ext cx="3768313" cy="35242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BAD4067-1492-B53D-6790-FD90106831AA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043112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45556" y="2366962"/>
            <a:ext cx="710088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Urbanist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433762"/>
            <a:ext cx="76200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The DIY PVC Pitot-static tube successfully proved the concept, demonstrating a highly accurate measurement window near 20 km/h. To eliminate the aerodynamic deviations observed at high speeds, V2.0 will feature a fully 3D-printed uni-body design for perfect static port symmetry, coupled with a rigid, bolted aluminum clamp to completely eliminate mounting deflection.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1F918-4459-668D-1F71-ED4827F7C7A4}"/>
              </a:ext>
            </a:extLst>
          </p:cNvPr>
          <p:cNvSpPr txBox="1"/>
          <p:nvPr/>
        </p:nvSpPr>
        <p:spPr>
          <a:xfrm>
            <a:off x="11795760" y="6422136"/>
            <a:ext cx="36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rcRect l="14530" r="23670"/>
          <a:stretch>
            <a:fillRect/>
          </a:stretch>
        </p:blipFill>
        <p:spPr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</p:spPr>
      </p:pic>
      <p:sp>
        <p:nvSpPr>
          <p:cNvPr id="4" name="TextBox 3"/>
          <p:cNvSpPr txBox="1"/>
          <p:nvPr/>
        </p:nvSpPr>
        <p:spPr>
          <a:xfrm>
            <a:off x="6343650" y="3962400"/>
            <a:ext cx="5505814" cy="1690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for your time.</a:t>
            </a:r>
          </a:p>
        </p:txBody>
      </p:sp>
      <p:pic>
        <p:nvPicPr>
          <p:cNvPr id="5" name="Picture 4" descr="This PitotTube Cover 🐔 : r/aviation">
            <a:extLst>
              <a:ext uri="{FF2B5EF4-FFF2-40B4-BE49-F238E27FC236}">
                <a16:creationId xmlns:a16="http://schemas.microsoft.com/office/drawing/2014/main" id="{EF5C39D0-A6BC-0E2D-FF17-A954C9426D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3" r="10752" b="-2"/>
          <a:stretch>
            <a:fillRect/>
          </a:stretch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972</Words>
  <Application>Microsoft Office PowerPoint</Application>
  <PresentationFormat>Widescreen</PresentationFormat>
  <Paragraphs>142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Urbanist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Kumbalathara Arachchige Don Gaurawa Kovida</cp:lastModifiedBy>
  <cp:revision>12</cp:revision>
  <dcterms:created xsi:type="dcterms:W3CDTF">2013-01-27T09:14:16Z</dcterms:created>
  <dcterms:modified xsi:type="dcterms:W3CDTF">2026-09-18T12:15:51Z</dcterms:modified>
  <cp:category/>
</cp:coreProperties>
</file>